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66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1" autoAdjust="0"/>
    <p:restoredTop sz="94660"/>
  </p:normalViewPr>
  <p:slideViewPr>
    <p:cSldViewPr snapToGrid="0">
      <p:cViewPr varScale="1">
        <p:scale>
          <a:sx n="64" d="100"/>
          <a:sy n="64" d="100"/>
        </p:scale>
        <p:origin x="100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6AE7D8-0A91-46E4-BDB0-A01CAECC79CE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61EE2E-77E7-41BB-BCE6-C16322603A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2535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61EE2E-77E7-41BB-BCE6-C16322603AE1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74220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6E2A1-0B9B-5591-47E0-0B3855635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52E320D-D020-A4FA-D587-9D83CB798A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96F9302-85F1-679E-BF46-C07A95D71D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77E6BC5-28F4-2BD4-D72B-084FF6B521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61EE2E-77E7-41BB-BCE6-C16322603AE1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21523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11EA32-13D2-8B23-63C7-A040EE65FB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251627B-6576-2AA1-2E8A-2B5313D4DE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48C469-0F14-FD32-633C-6A5DDBCEE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7644C-7A51-4F9D-B41A-0857E6952010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9031E49-FB59-4A45-657C-A6074760A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1828D5-6F4D-EEAA-9F26-F77C06AA9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5CA7-F204-49E3-A258-B02AAC6DEF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4955040"/>
      </p:ext>
    </p:extLst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AD3E77-908D-6484-B4DD-2724AA486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2503B25-C408-7F37-53FE-7EDF139D90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741587D-0A9F-43EB-A78A-52EAF6C9C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7644C-7A51-4F9D-B41A-0857E6952010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A54C49-B527-F2D7-089C-32142A976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49BEBF5-7E0B-04DF-292E-D28577DB4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5CA7-F204-49E3-A258-B02AAC6DEF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0982559"/>
      </p:ext>
    </p:extLst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C07418-C6F2-F6E5-248E-81853F4B4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A2C6B86-A2CF-E6DA-3692-00517E2F9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DC9C5AD-6264-C302-5C92-72DCB201F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7644C-7A51-4F9D-B41A-0857E6952010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34F3705-A655-B89D-7899-F316BFFEE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A4CF523-622F-5E7B-5031-1304E960A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5CA7-F204-49E3-A258-B02AAC6DEF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4730943"/>
      </p:ext>
    </p:extLst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684F59-4798-CC4D-79E8-4E0A86FCD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3B800E-7029-A49A-160C-2C03810541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CF6CDC1-8A16-F5C8-F807-27AC6C9418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93C14E5-B81E-3991-D1CF-65C7E2972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7644C-7A51-4F9D-B41A-0857E6952010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7475C80-0824-0870-826F-BDAE32904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5467159-F957-7D3A-5E42-E79772172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5CA7-F204-49E3-A258-B02AAC6DEF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2845736"/>
      </p:ext>
    </p:extLst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B5B39D-9DD5-2F74-CF1B-EF519EBCE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5A5AA9A-DAB0-58FB-593C-3097EB373B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02A0FDA-8661-0FE4-2C75-2E758092EE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6A7A7C6-9789-76FF-5547-2C2F2E9EF9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8305ECB-6C72-1F5A-1D88-F7399DEE52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6D242EB-36DD-20FD-6DDA-0C0BC6252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7644C-7A51-4F9D-B41A-0857E6952010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DA96613-E336-A307-35D1-D3D80078B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8F41134-A9B3-A627-A96B-C3B4903F0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5CA7-F204-49E3-A258-B02AAC6DEF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7263526"/>
      </p:ext>
    </p:extLst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33CC65-B0D7-DC6A-B604-27B4CD774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D028D11-B7DB-500C-1BDB-0CC8FE5A1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7644C-7A51-4F9D-B41A-0857E6952010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E0491EF-DD80-2CF5-EAE4-127DB2D97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06C5E66-1387-87B5-333C-C26780818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5CA7-F204-49E3-A258-B02AAC6DEF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6870113"/>
      </p:ext>
    </p:extLst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5F47F33-885A-DF48-912A-D49F69E62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7644C-7A51-4F9D-B41A-0857E6952010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CD5FA8D-3AC8-77C7-1632-AD29B35BE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BF60E1D-F62F-9D03-F39C-598FCA02B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5CA7-F204-49E3-A258-B02AAC6DEF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6924066"/>
      </p:ext>
    </p:extLst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1AF82E-D2EF-7354-F35C-DBF1F57ED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A404A2-B716-0AED-76FE-C7D720A04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58A553C-150E-92C2-82EF-FD79FDA2AE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40ADAE3-40BB-5898-5E21-383932C39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7644C-7A51-4F9D-B41A-0857E6952010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57D08F8-FE42-84C5-94F1-8E4F08A5D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F1BF60B-1088-799C-3788-F1923A92B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5CA7-F204-49E3-A258-B02AAC6DEF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5050423"/>
      </p:ext>
    </p:extLst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1281E8-A9A8-C5CF-9D79-78A487E81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DD18BEC-107C-CBCA-C891-841DB2415A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4DBA3F3-F341-F243-2FF7-B62158DBED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FB12F4B-1CA9-6691-4344-07980B0E4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7644C-7A51-4F9D-B41A-0857E6952010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8BD4A03-575B-91AF-1B62-561C91E78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61265DF-8D42-8863-3E43-814CF36B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5CA7-F204-49E3-A258-B02AAC6DEF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0750098"/>
      </p:ext>
    </p:extLst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C4DE08-B9DD-D91E-5C48-EFFD55F34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0FA0E27-8F72-91F0-5A15-575F70A0E4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CDD829B-A7A6-BCF7-06FA-E5D57D8C6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7644C-7A51-4F9D-B41A-0857E6952010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1D8709B-2263-93A3-5811-5BD3C81AF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B233B9-F9C9-7BDA-9DC6-1289C1A07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5CA7-F204-49E3-A258-B02AAC6DEF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2548217"/>
      </p:ext>
    </p:extLst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F96D9CA-A682-EA45-33E9-52F3D05857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A7C458A-AE4B-0759-9295-F34128F4C1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FAC323C-DC36-0B5C-B803-0C7AA1FFA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7644C-7A51-4F9D-B41A-0857E6952010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5E299FC-D19A-7B24-7BEA-CC6E1FAEB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47ECFB1-2830-A630-06AD-CEA8EDE36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5CA7-F204-49E3-A258-B02AAC6DEF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2404218"/>
      </p:ext>
    </p:extLst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7BA439-3561-E4A3-63AF-B3378613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1E9D230-CC71-7AC1-1608-643FD9D273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8D539FF-753E-7341-53F5-97C3D01FCF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E7644C-7A51-4F9D-B41A-0857E6952010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C6701DD-91C4-83FE-64EB-10D5E92DA9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39652B7-0D37-5B4C-BF85-0177E6A8C8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8B5CA7-F204-49E3-A258-B02AAC6DEF2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6964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CF8FAD5-374F-3E78-245E-11F08B8E2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91D07318-1430-EDC7-E0B8-DC74014FDEE6}"/>
              </a:ext>
            </a:extLst>
          </p:cNvPr>
          <p:cNvSpPr/>
          <p:nvPr/>
        </p:nvSpPr>
        <p:spPr>
          <a:xfrm>
            <a:off x="1524000" y="1600200"/>
            <a:ext cx="9144000" cy="18288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342900" dist="50800" dir="5400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ru-RU" sz="4800" dirty="0">
                <a:solidFill>
                  <a:prstClr val="black"/>
                </a:solidFill>
                <a:latin typeface="Bahnschrift SemiBold" panose="020B0502040204020203" pitchFamily="34" charset="0"/>
                <a:ea typeface="+mj-ea"/>
                <a:cs typeface="+mj-cs"/>
              </a:rPr>
              <a:t>Мобильное фитнес-приложение "</a:t>
            </a:r>
            <a:r>
              <a:rPr lang="en-US" sz="4800" dirty="0">
                <a:solidFill>
                  <a:prstClr val="black"/>
                </a:solidFill>
                <a:latin typeface="Bahnschrift SemiBold" panose="020B0502040204020203" pitchFamily="34" charset="0"/>
                <a:ea typeface="+mj-ea"/>
                <a:cs typeface="+mj-cs"/>
              </a:rPr>
              <a:t>Fitness Assist"</a:t>
            </a:r>
            <a:endParaRPr lang="ru-RU" sz="1600" dirty="0">
              <a:solidFill>
                <a:schemeClr val="tx1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13364F43-AF89-DDDD-7CCF-98FA700653F1}"/>
              </a:ext>
            </a:extLst>
          </p:cNvPr>
          <p:cNvSpPr/>
          <p:nvPr/>
        </p:nvSpPr>
        <p:spPr>
          <a:xfrm>
            <a:off x="4892040" y="4073652"/>
            <a:ext cx="2407920" cy="713232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342900" dist="50800" dir="5400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kumimoji="0" lang="ru-RU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" panose="020B0502040204020203" pitchFamily="34" charset="0"/>
                <a:ea typeface="+mj-ea"/>
                <a:cs typeface="+mj-cs"/>
              </a:rPr>
              <a:t>Мишенин Артём</a:t>
            </a:r>
          </a:p>
          <a:p>
            <a:pPr marL="0" indent="0" algn="ctr">
              <a:buNone/>
            </a:pPr>
            <a:r>
              <a:rPr lang="ru-RU" sz="1000" b="1" dirty="0">
                <a:solidFill>
                  <a:prstClr val="black"/>
                </a:solidFill>
                <a:latin typeface="Bahnschrift SemiBold" panose="020B0502040204020203" pitchFamily="34" charset="0"/>
                <a:ea typeface="+mj-ea"/>
                <a:cs typeface="+mj-cs"/>
              </a:rPr>
              <a:t>403ИС-22</a:t>
            </a:r>
            <a:endParaRPr lang="ru-RU" sz="1000" dirty="0">
              <a:solidFill>
                <a:schemeClr val="tx1"/>
              </a:solidFill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1828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F1E213E-9CF4-02E0-3C74-B89F5CF68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AA4ABE0F-9F36-76AA-22C8-5588D7804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>
              <a:lnSpc>
                <a:spcPts val="5550"/>
              </a:lnSpc>
            </a:pPr>
            <a:r>
              <a:rPr lang="ru-RU" dirty="0">
                <a:solidFill>
                  <a:srgbClr val="030303"/>
                </a:solidFill>
                <a:latin typeface="Bahnschrift SemiBold" panose="020B0502040204020203" pitchFamily="34" charset="0"/>
                <a:ea typeface="DM Sans Semi Bold" pitchFamily="34" charset="-122"/>
                <a:cs typeface="DM Sans Semi Bold" pitchFamily="34" charset="-120"/>
              </a:rPr>
              <a:t>Актуальность</a:t>
            </a:r>
            <a:endParaRPr lang="en-US" dirty="0">
              <a:latin typeface="Bahnschrift SemiBold" panose="020B0502040204020203" pitchFamily="34" charset="0"/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F6DBCD3E-69B2-D198-A5F1-95F418583D00}"/>
              </a:ext>
            </a:extLst>
          </p:cNvPr>
          <p:cNvSpPr/>
          <p:nvPr/>
        </p:nvSpPr>
        <p:spPr>
          <a:xfrm>
            <a:off x="838200" y="2139696"/>
            <a:ext cx="10858500" cy="2089404"/>
          </a:xfrm>
          <a:prstGeom prst="roundRect">
            <a:avLst>
              <a:gd name="adj" fmla="val 8956"/>
            </a:avLst>
          </a:prstGeom>
          <a:solidFill>
            <a:schemeClr val="bg1"/>
          </a:solidFill>
          <a:ln>
            <a:noFill/>
          </a:ln>
          <a:effectLst>
            <a:outerShdw blurRad="342900" dist="50800" dir="5400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endParaRPr lang="ru-RU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C684B962-00D5-384A-F2DD-F72223EACA93}"/>
              </a:ext>
            </a:extLst>
          </p:cNvPr>
          <p:cNvSpPr/>
          <p:nvPr/>
        </p:nvSpPr>
        <p:spPr>
          <a:xfrm>
            <a:off x="838200" y="2139696"/>
            <a:ext cx="10858500" cy="2089404"/>
          </a:xfrm>
          <a:prstGeom prst="roundRect">
            <a:avLst>
              <a:gd name="adj" fmla="val 8956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447675">
              <a:buNone/>
            </a:pPr>
            <a:r>
              <a:rPr lang="ru-RU" dirty="0">
                <a:solidFill>
                  <a:schemeClr val="tx1"/>
                </a:solidFill>
                <a:latin typeface="Bahnschrift" panose="020B0502040204020203" pitchFamily="34" charset="0"/>
              </a:rPr>
              <a:t>В современном мире, где более 39% взрослого населения страдает от избыточного веса (данные ВОЗ, 2024), а сидячий образ работы становится нормой, существует острая потребность в доступных инструментах для контроля физической активности и питания. Многие люди:</a:t>
            </a:r>
          </a:p>
          <a:p>
            <a:pPr indent="447675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Bahnschrift" panose="020B0502040204020203" pitchFamily="34" charset="0"/>
              </a:rPr>
              <a:t>Не отслеживают потребление воды (рекомендуемые 2-2.5 литра в день)</a:t>
            </a:r>
          </a:p>
          <a:p>
            <a:pPr indent="447675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Bahnschrift" panose="020B0502040204020203" pitchFamily="34" charset="0"/>
              </a:rPr>
              <a:t>Не контролируют калорийность питания</a:t>
            </a:r>
          </a:p>
          <a:p>
            <a:pPr indent="447675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Bahnschrift" panose="020B0502040204020203" pitchFamily="34" charset="0"/>
              </a:rPr>
              <a:t>Не систематизируют тренировочный процесс</a:t>
            </a:r>
          </a:p>
          <a:p>
            <a:pPr indent="447675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Bahnschrift" panose="020B0502040204020203" pitchFamily="34" charset="0"/>
              </a:rPr>
              <a:t>Используют разрозненные приложения для разных аспектов здоровья</a:t>
            </a:r>
          </a:p>
        </p:txBody>
      </p:sp>
    </p:spTree>
    <p:extLst>
      <p:ext uri="{BB962C8B-B14F-4D97-AF65-F5344CB8AC3E}">
        <p14:creationId xmlns:p14="http://schemas.microsoft.com/office/powerpoint/2010/main" val="2451715297"/>
      </p:ext>
    </p:extLst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2FAD3-8CBF-ABE3-68F1-21B3207B4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B61E314-C9AD-77B2-2FB6-8C0E5A658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91C0EB75-6652-289B-4F67-68843FAA9EFE}"/>
              </a:ext>
            </a:extLst>
          </p:cNvPr>
          <p:cNvSpPr/>
          <p:nvPr/>
        </p:nvSpPr>
        <p:spPr>
          <a:xfrm>
            <a:off x="838200" y="2139695"/>
            <a:ext cx="3380874" cy="424205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342900" dist="50800" dir="5400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dirty="0">
              <a:solidFill>
                <a:schemeClr val="tx1"/>
              </a:solidFill>
              <a:latin typeface="Bahnschrift SemiLight" panose="020B0502040204020203" pitchFamily="34" charset="0"/>
            </a:endParaRP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F64B2DD3-2662-562C-0827-D12064C1A86D}"/>
              </a:ext>
            </a:extLst>
          </p:cNvPr>
          <p:cNvSpPr/>
          <p:nvPr/>
        </p:nvSpPr>
        <p:spPr>
          <a:xfrm>
            <a:off x="4405563" y="2139694"/>
            <a:ext cx="3380874" cy="424205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342900" dist="50800" dir="5400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ru-RU" dirty="0">
              <a:solidFill>
                <a:schemeClr val="tx1"/>
              </a:solidFill>
              <a:latin typeface="Bahnschrift SemiLight" panose="020B0502040204020203" pitchFamily="34" charset="0"/>
            </a:endParaRPr>
          </a:p>
          <a:p>
            <a:pPr>
              <a:lnSpc>
                <a:spcPct val="150000"/>
              </a:lnSpc>
            </a:pPr>
            <a:endParaRPr lang="ru-RU" dirty="0">
              <a:solidFill>
                <a:schemeClr val="tx1"/>
              </a:solidFill>
              <a:latin typeface="Bahnschrift SemiLight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Bahnschrift SemiLight" panose="020B0502040204020203" pitchFamily="34" charset="0"/>
              </a:rPr>
              <a:t>. 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7E882AFF-CC04-41C4-1513-43EB44FEF148}"/>
              </a:ext>
            </a:extLst>
          </p:cNvPr>
          <p:cNvSpPr/>
          <p:nvPr/>
        </p:nvSpPr>
        <p:spPr>
          <a:xfrm>
            <a:off x="7972926" y="2139694"/>
            <a:ext cx="3380874" cy="424205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342900" dist="50800" dir="5400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ru-RU" dirty="0">
              <a:solidFill>
                <a:schemeClr val="tx1"/>
              </a:solidFill>
              <a:latin typeface="Bahnschrift SemiLight" panose="020B0502040204020203" pitchFamily="34" charset="0"/>
            </a:endParaRPr>
          </a:p>
          <a:p>
            <a:pPr>
              <a:lnSpc>
                <a:spcPct val="150000"/>
              </a:lnSpc>
            </a:pPr>
            <a:endParaRPr lang="ru-RU" dirty="0">
              <a:solidFill>
                <a:schemeClr val="tx1"/>
              </a:solidFill>
              <a:latin typeface="Bahnschrift SemiLight" panose="020B0502040204020203" pitchFamily="34" charset="0"/>
            </a:endParaRPr>
          </a:p>
          <a:p>
            <a:pPr>
              <a:lnSpc>
                <a:spcPct val="150000"/>
              </a:lnSpc>
            </a:pPr>
            <a:endParaRPr lang="ru-RU" dirty="0">
              <a:solidFill>
                <a:schemeClr val="tx1"/>
              </a:solidFill>
              <a:latin typeface="Bahnschrift SemiLight" panose="020B0502040204020203" pitchFamily="34" charset="0"/>
            </a:endParaRPr>
          </a:p>
          <a:p>
            <a:pPr>
              <a:lnSpc>
                <a:spcPct val="150000"/>
              </a:lnSpc>
            </a:pPr>
            <a:endParaRPr lang="en-US" dirty="0">
              <a:solidFill>
                <a:schemeClr val="tx1"/>
              </a:solidFill>
              <a:latin typeface="Bahnschrift SemiLight" panose="020B0502040204020203" pitchFamily="34" charset="0"/>
            </a:endParaRP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BB0AB6C2-EBBE-35D5-727F-76777E2049D4}"/>
              </a:ext>
            </a:extLst>
          </p:cNvPr>
          <p:cNvSpPr/>
          <p:nvPr/>
        </p:nvSpPr>
        <p:spPr>
          <a:xfrm>
            <a:off x="838201" y="2139694"/>
            <a:ext cx="3380873" cy="1005840"/>
          </a:xfrm>
          <a:prstGeom prst="roundRect">
            <a:avLst>
              <a:gd name="adj" fmla="val 46970"/>
            </a:avLst>
          </a:prstGeom>
          <a:solidFill>
            <a:schemeClr val="bg1"/>
          </a:solidFill>
          <a:ln>
            <a:noFill/>
          </a:ln>
          <a:effectLst>
            <a:outerShdw blurRad="342900" dist="50800" dir="5400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MyFitnessPal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495C6AF8-32D4-4F15-AC66-D4D0EDFB702D}"/>
              </a:ext>
            </a:extLst>
          </p:cNvPr>
          <p:cNvSpPr/>
          <p:nvPr/>
        </p:nvSpPr>
        <p:spPr>
          <a:xfrm>
            <a:off x="4405561" y="2145026"/>
            <a:ext cx="3380873" cy="100584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342900" dist="50800" dir="5400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Fitbit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45FAEAE8-4872-3604-EE94-9BEAEAC91E37}"/>
              </a:ext>
            </a:extLst>
          </p:cNvPr>
          <p:cNvSpPr/>
          <p:nvPr/>
        </p:nvSpPr>
        <p:spPr>
          <a:xfrm>
            <a:off x="7972925" y="2139694"/>
            <a:ext cx="3380873" cy="1005840"/>
          </a:xfrm>
          <a:prstGeom prst="roundRect">
            <a:avLst>
              <a:gd name="adj" fmla="val 46970"/>
            </a:avLst>
          </a:prstGeom>
          <a:solidFill>
            <a:schemeClr val="bg1"/>
          </a:solidFill>
          <a:ln>
            <a:noFill/>
          </a:ln>
          <a:effectLst>
            <a:outerShdw blurRad="342900" dist="50800" dir="5400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Bahnschrift SemiBold" panose="020B0502040204020203" pitchFamily="34" charset="0"/>
              </a:rPr>
              <a:t>Google Fit</a:t>
            </a:r>
          </a:p>
        </p:txBody>
      </p:sp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5FFC8DD0-DE61-EDB6-792B-68AF6D830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>
              <a:lnSpc>
                <a:spcPts val="5550"/>
              </a:lnSpc>
            </a:pPr>
            <a:r>
              <a:rPr lang="ru-RU" dirty="0">
                <a:solidFill>
                  <a:srgbClr val="030303"/>
                </a:solidFill>
                <a:latin typeface="Bahnschrift SemiBold" panose="020B0502040204020203" pitchFamily="34" charset="0"/>
              </a:rPr>
              <a:t>Анализ существующих аналогов</a:t>
            </a:r>
            <a:endParaRPr lang="en-US" dirty="0">
              <a:latin typeface="Bahnschrift SemiBold" panose="020B0502040204020203" pitchFamily="34" charset="0"/>
            </a:endParaRP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9074BA1E-E228-DC10-85AB-CD6094FA8C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70" y="3594541"/>
            <a:ext cx="2138493" cy="2138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1C356C5-A79D-5724-E615-6D25954ADE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9711" y="3646263"/>
            <a:ext cx="3052572" cy="2035048"/>
          </a:xfrm>
          <a:prstGeom prst="rect">
            <a:avLst/>
          </a:prstGeom>
        </p:spPr>
      </p:pic>
      <p:pic>
        <p:nvPicPr>
          <p:cNvPr id="1032" name="Picture 8" descr="Picture background">
            <a:extLst>
              <a:ext uri="{FF2B5EF4-FFF2-40B4-BE49-F238E27FC236}">
                <a16:creationId xmlns:a16="http://schemas.microsoft.com/office/drawing/2014/main" id="{F71A7830-A025-8969-E153-BEB0D05E0F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6937" y="3557363"/>
            <a:ext cx="2212848" cy="2212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0350132"/>
      </p:ext>
    </p:extLst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77A81-037C-7CA2-D046-DC46AD3F5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9543288-592A-CD02-D6EB-D54743436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0CBC0FD5-6879-4030-2BFB-451F14D2F191}"/>
              </a:ext>
            </a:extLst>
          </p:cNvPr>
          <p:cNvSpPr/>
          <p:nvPr/>
        </p:nvSpPr>
        <p:spPr>
          <a:xfrm>
            <a:off x="838200" y="2139696"/>
            <a:ext cx="10363200" cy="3441954"/>
          </a:xfrm>
          <a:prstGeom prst="roundRect">
            <a:avLst>
              <a:gd name="adj" fmla="val 8956"/>
            </a:avLst>
          </a:prstGeom>
          <a:solidFill>
            <a:schemeClr val="bg1"/>
          </a:solidFill>
          <a:ln>
            <a:noFill/>
          </a:ln>
          <a:effectLst>
            <a:outerShdw blurRad="342900" dist="50800" dir="5400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>
              <a:solidFill>
                <a:schemeClr val="tx1"/>
              </a:solidFill>
              <a:latin typeface="Bahnschrift SemiLight" panose="020B0502040204020203" pitchFamily="34" charset="0"/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94E8FFFE-2346-D392-FA41-90FC0616C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>
              <a:lnSpc>
                <a:spcPts val="5550"/>
              </a:lnSpc>
            </a:pPr>
            <a:r>
              <a:rPr lang="ru-RU" dirty="0">
                <a:solidFill>
                  <a:srgbClr val="030303"/>
                </a:solidFill>
                <a:latin typeface="Bahnschrift SemiBold" panose="020B0502040204020203" pitchFamily="34" charset="0"/>
                <a:ea typeface="DM Sans Semi Bold" pitchFamily="34" charset="-122"/>
              </a:rPr>
              <a:t>Анализ существующих аналогов</a:t>
            </a:r>
            <a:endParaRPr lang="en-US" dirty="0">
              <a:latin typeface="Bahnschrift SemiBold" panose="020B0502040204020203" pitchFamily="34" charset="0"/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AA4A5782-DB22-0AFF-D554-C2D04DEEA0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2531003"/>
              </p:ext>
            </p:extLst>
          </p:nvPr>
        </p:nvGraphicFramePr>
        <p:xfrm>
          <a:off x="990600" y="2218871"/>
          <a:ext cx="10082784" cy="32836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696">
                  <a:extLst>
                    <a:ext uri="{9D8B030D-6E8A-4147-A177-3AD203B41FA5}">
                      <a16:colId xmlns:a16="http://schemas.microsoft.com/office/drawing/2014/main" val="3793473596"/>
                    </a:ext>
                  </a:extLst>
                </a:gridCol>
                <a:gridCol w="2520696">
                  <a:extLst>
                    <a:ext uri="{9D8B030D-6E8A-4147-A177-3AD203B41FA5}">
                      <a16:colId xmlns:a16="http://schemas.microsoft.com/office/drawing/2014/main" val="3243046927"/>
                    </a:ext>
                  </a:extLst>
                </a:gridCol>
                <a:gridCol w="2520696">
                  <a:extLst>
                    <a:ext uri="{9D8B030D-6E8A-4147-A177-3AD203B41FA5}">
                      <a16:colId xmlns:a16="http://schemas.microsoft.com/office/drawing/2014/main" val="3803352744"/>
                    </a:ext>
                  </a:extLst>
                </a:gridCol>
                <a:gridCol w="2520696">
                  <a:extLst>
                    <a:ext uri="{9D8B030D-6E8A-4147-A177-3AD203B41FA5}">
                      <a16:colId xmlns:a16="http://schemas.microsoft.com/office/drawing/2014/main" val="4287880155"/>
                    </a:ext>
                  </a:extLst>
                </a:gridCol>
              </a:tblGrid>
              <a:tr h="4489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Приложение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Преимущества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Недостатки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Цена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9596542"/>
                  </a:ext>
                </a:extLst>
              </a:tr>
              <a:tr h="8226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MyFitnessPal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База 14 млн продуктов, интеграции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Сложный интерфейс, подписка $9.99/мес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Freemium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5998392"/>
                  </a:ext>
                </a:extLst>
              </a:tr>
              <a:tr h="5758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Fitbit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Аппаратная интеграция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Требует покупки трекера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$79+ за устройство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9956746"/>
                  </a:ext>
                </a:extLst>
              </a:tr>
              <a:tr h="5758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Google Fit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Интеграция с </a:t>
                      </a:r>
                      <a:r>
                        <a:rPr lang="en-US"/>
                        <a:t>Android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Общие данные, нет детализации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Бесплатно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4206300"/>
                  </a:ext>
                </a:extLst>
              </a:tr>
              <a:tr h="5758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Fitness Assist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Комплексность, простота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/>
                        <a:t>Меньше функций чем у аналогов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1" dirty="0"/>
                        <a:t>Полностью бесплатно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61947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4322398"/>
      </p:ext>
    </p:extLst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80D60-7CC5-C55A-D055-9AD5062D6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8C35EE9-0945-A278-C9C5-CBF9AB8188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5736B03C-3A0F-6D1D-F140-F1EFFB7474FA}"/>
              </a:ext>
            </a:extLst>
          </p:cNvPr>
          <p:cNvSpPr/>
          <p:nvPr/>
        </p:nvSpPr>
        <p:spPr>
          <a:xfrm>
            <a:off x="838200" y="2139696"/>
            <a:ext cx="10363200" cy="3441954"/>
          </a:xfrm>
          <a:prstGeom prst="roundRect">
            <a:avLst>
              <a:gd name="adj" fmla="val 8956"/>
            </a:avLst>
          </a:prstGeom>
          <a:solidFill>
            <a:schemeClr val="bg1"/>
          </a:solidFill>
          <a:ln>
            <a:noFill/>
          </a:ln>
          <a:effectLst>
            <a:outerShdw blurRad="342900" dist="50800" dir="5400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447675"/>
            <a:r>
              <a:rPr lang="ru-RU" dirty="0">
                <a:solidFill>
                  <a:schemeClr val="tx1"/>
                </a:solidFill>
                <a:latin typeface="Bahnschrift SemiBold" panose="020B0502040204020203" pitchFamily="34" charset="0"/>
              </a:rPr>
              <a:t>Главной целью проекта является разработка мобильного приложения для комплексного отслеживания физической активности и контроля здорового образа жизни, которое поможет пользователям формировать и поддерживать полезные привычки через простой и интуитивно понятный интерфейс.</a:t>
            </a:r>
          </a:p>
          <a:p>
            <a:pPr indent="447675"/>
            <a:r>
              <a:rPr lang="ru-RU" dirty="0">
                <a:solidFill>
                  <a:schemeClr val="tx1"/>
                </a:solidFill>
                <a:latin typeface="Bahnschrift SemiBold" panose="020B0502040204020203" pitchFamily="34" charset="0"/>
              </a:rPr>
              <a:t>Задачи проекта:</a:t>
            </a:r>
          </a:p>
          <a:p>
            <a:pPr indent="447675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Bahnschrift SemiLight" panose="020B0502040204020203" pitchFamily="34" charset="0"/>
              </a:rPr>
              <a:t>Продемонстрировать владение современными технологиями </a:t>
            </a:r>
            <a:r>
              <a:rPr lang="ru-RU" dirty="0" err="1">
                <a:solidFill>
                  <a:schemeClr val="tx1"/>
                </a:solidFill>
                <a:latin typeface="Bahnschrift SemiLight" panose="020B0502040204020203" pitchFamily="34" charset="0"/>
              </a:rPr>
              <a:t>Android</a:t>
            </a:r>
            <a:r>
              <a:rPr lang="ru-RU" dirty="0">
                <a:solidFill>
                  <a:schemeClr val="tx1"/>
                </a:solidFill>
                <a:latin typeface="Bahnschrift SemiLight" panose="020B0502040204020203" pitchFamily="34" charset="0"/>
              </a:rPr>
              <a:t>-разработки</a:t>
            </a:r>
          </a:p>
          <a:p>
            <a:pPr indent="447675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Bahnschrift SemiLight" panose="020B0502040204020203" pitchFamily="34" charset="0"/>
              </a:rPr>
              <a:t>Реализовать проект, соответствующий требованиям учебной программы 4 курса</a:t>
            </a:r>
          </a:p>
          <a:p>
            <a:pPr indent="447675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Bahnschrift SemiLight" panose="020B0502040204020203" pitchFamily="34" charset="0"/>
              </a:rPr>
              <a:t>Применить на практике изученные архитектурные паттерны и подходы</a:t>
            </a:r>
          </a:p>
          <a:p>
            <a:pPr indent="447675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Bahnschrift SemiLight" panose="020B0502040204020203" pitchFamily="34" charset="0"/>
              </a:rPr>
              <a:t>Создать интегрированную платформу для управления ключевыми аспектами здоровья:</a:t>
            </a:r>
          </a:p>
          <a:p>
            <a:pPr marL="447675" indent="447675">
              <a:buFont typeface="Courier New" panose="02070309020205020404" pitchFamily="49" charset="0"/>
              <a:buChar char="o"/>
            </a:pPr>
            <a:r>
              <a:rPr lang="ru-RU" dirty="0">
                <a:solidFill>
                  <a:schemeClr val="tx1"/>
                </a:solidFill>
                <a:latin typeface="Bahnschrift SemiLight" panose="020B0502040204020203" pitchFamily="34" charset="0"/>
              </a:rPr>
              <a:t>Контроль физической активности</a:t>
            </a:r>
          </a:p>
          <a:p>
            <a:pPr marL="447675" indent="447675">
              <a:buFont typeface="Courier New" panose="02070309020205020404" pitchFamily="49" charset="0"/>
              <a:buChar char="o"/>
            </a:pPr>
            <a:r>
              <a:rPr lang="ru-RU" dirty="0">
                <a:solidFill>
                  <a:schemeClr val="tx1"/>
                </a:solidFill>
                <a:latin typeface="Bahnschrift SemiLight" panose="020B0502040204020203" pitchFamily="34" charset="0"/>
              </a:rPr>
              <a:t>Мониторинг водного баланса</a:t>
            </a:r>
          </a:p>
          <a:p>
            <a:pPr marL="447675" indent="447675">
              <a:buFont typeface="Courier New" panose="02070309020205020404" pitchFamily="49" charset="0"/>
              <a:buChar char="o"/>
            </a:pPr>
            <a:r>
              <a:rPr lang="ru-RU" dirty="0">
                <a:solidFill>
                  <a:schemeClr val="tx1"/>
                </a:solidFill>
                <a:latin typeface="Bahnschrift SemiLight" panose="020B0502040204020203" pitchFamily="34" charset="0"/>
              </a:rPr>
              <a:t>Учет потребляемых калорий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9AFCFE69-E0D5-3E05-BD4D-B97B6CC75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>
              <a:lnSpc>
                <a:spcPts val="5550"/>
              </a:lnSpc>
            </a:pPr>
            <a:r>
              <a:rPr lang="ru-RU" dirty="0">
                <a:solidFill>
                  <a:srgbClr val="030303"/>
                </a:solidFill>
                <a:latin typeface="Bahnschrift SemiBold" panose="020B0502040204020203" pitchFamily="34" charset="0"/>
                <a:ea typeface="DM Sans Semi Bold" pitchFamily="34" charset="-122"/>
                <a:cs typeface="DM Sans Semi Bold" pitchFamily="34" charset="-120"/>
              </a:rPr>
              <a:t>Цели и задачи проекта</a:t>
            </a:r>
            <a:endParaRPr lang="en-US" dirty="0"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7404859"/>
      </p:ext>
    </p:extLst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E4504-F07E-8358-8063-8A4CB38B7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A7DFD80-A9CD-210E-A00D-432FE18CF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6CAFED9A-DA7E-E167-BB94-34141F00CA64}"/>
              </a:ext>
            </a:extLst>
          </p:cNvPr>
          <p:cNvSpPr/>
          <p:nvPr/>
        </p:nvSpPr>
        <p:spPr>
          <a:xfrm>
            <a:off x="838200" y="2139696"/>
            <a:ext cx="6229350" cy="3441954"/>
          </a:xfrm>
          <a:prstGeom prst="roundRect">
            <a:avLst>
              <a:gd name="adj" fmla="val 8956"/>
            </a:avLst>
          </a:prstGeom>
          <a:solidFill>
            <a:schemeClr val="bg1"/>
          </a:solidFill>
          <a:ln>
            <a:noFill/>
          </a:ln>
          <a:effectLst>
            <a:outerShdw blurRad="342900" dist="50800" dir="5400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>
                <a:solidFill>
                  <a:schemeClr val="tx1"/>
                </a:solidFill>
                <a:latin typeface="Bahnschrift SemiBold" panose="020B0502040204020203" pitchFamily="34" charset="0"/>
              </a:rPr>
              <a:t>Пользовательский сценарий:</a:t>
            </a:r>
          </a:p>
          <a:p>
            <a:pPr indent="447675">
              <a:buFont typeface="+mj-lt"/>
              <a:buAutoNum type="arabicPeriod"/>
            </a:pPr>
            <a:r>
              <a:rPr lang="ru-RU" dirty="0">
                <a:solidFill>
                  <a:schemeClr val="tx1"/>
                </a:solidFill>
                <a:latin typeface="Bahnschrift" panose="020B0502040204020203" pitchFamily="34" charset="0"/>
              </a:rPr>
              <a:t>Запуск приложения → Экран авторизации</a:t>
            </a:r>
          </a:p>
          <a:p>
            <a:pPr indent="447675">
              <a:buFont typeface="+mj-lt"/>
              <a:buAutoNum type="arabicPeriod"/>
            </a:pPr>
            <a:r>
              <a:rPr lang="ru-RU" dirty="0">
                <a:solidFill>
                  <a:schemeClr val="tx1"/>
                </a:solidFill>
                <a:latin typeface="Bahnschrift" panose="020B0502040204020203" pitchFamily="34" charset="0"/>
              </a:rPr>
              <a:t>Регистрация/вход → Главный экран</a:t>
            </a:r>
          </a:p>
          <a:p>
            <a:pPr indent="447675">
              <a:buFont typeface="+mj-lt"/>
              <a:buAutoNum type="arabicPeriod"/>
            </a:pPr>
            <a:r>
              <a:rPr lang="ru-RU" dirty="0">
                <a:solidFill>
                  <a:schemeClr val="tx1"/>
                </a:solidFill>
                <a:latin typeface="Bahnschrift" panose="020B0502040204020203" pitchFamily="34" charset="0"/>
              </a:rPr>
              <a:t>Выбор функции:</a:t>
            </a:r>
          </a:p>
          <a:p>
            <a:pPr marL="447675" indent="447675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Bahnschrift" panose="020B0502040204020203" pitchFamily="34" charset="0"/>
              </a:rPr>
              <a:t>Тренировка → Таймер с сохранением времени</a:t>
            </a:r>
          </a:p>
          <a:p>
            <a:pPr marL="447675" indent="447675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Bahnschrift" panose="020B0502040204020203" pitchFamily="34" charset="0"/>
              </a:rPr>
              <a:t>Вода → Отслеживание с настраиваемой целью</a:t>
            </a:r>
          </a:p>
          <a:p>
            <a:pPr marL="447675" indent="447675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Bahnschrift" panose="020B0502040204020203" pitchFamily="34" charset="0"/>
              </a:rPr>
              <a:t>Питание → Подсчет калорий с быстрым добавлением</a:t>
            </a:r>
          </a:p>
          <a:p>
            <a:r>
              <a:rPr lang="ru-RU" dirty="0">
                <a:solidFill>
                  <a:schemeClr val="tx1"/>
                </a:solidFill>
                <a:latin typeface="Bahnschrift" panose="020B0502040204020203" pitchFamily="34" charset="0"/>
              </a:rPr>
              <a:t>4.    Настройки → Персонализация целей, сброс данных</a:t>
            </a:r>
          </a:p>
          <a:p>
            <a:r>
              <a:rPr lang="ru-RU" dirty="0">
                <a:solidFill>
                  <a:schemeClr val="tx1"/>
                </a:solidFill>
                <a:latin typeface="Bahnschrift" panose="020B0502040204020203" pitchFamily="34" charset="0"/>
              </a:rPr>
              <a:t>5.    Выход → Возврат к авторизации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6CEC1630-E19B-D785-74DF-701EC677C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>
              <a:lnSpc>
                <a:spcPts val="5550"/>
              </a:lnSpc>
            </a:pPr>
            <a:r>
              <a:rPr lang="ru-RU" dirty="0">
                <a:solidFill>
                  <a:srgbClr val="030303"/>
                </a:solidFill>
                <a:latin typeface="Bahnschrift SemiBold" panose="020B0502040204020203" pitchFamily="34" charset="0"/>
                <a:ea typeface="DM Sans Semi Bold" pitchFamily="34" charset="-122"/>
              </a:rPr>
              <a:t>Принцип работы приложения </a:t>
            </a:r>
            <a:endParaRPr lang="en-US" dirty="0">
              <a:latin typeface="Bahnschrift SemiBold" panose="020B0502040204020203" pitchFamily="34" charset="0"/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3E607EB7-8C54-12F9-2E75-BA9B6815D311}"/>
              </a:ext>
            </a:extLst>
          </p:cNvPr>
          <p:cNvSpPr/>
          <p:nvPr/>
        </p:nvSpPr>
        <p:spPr>
          <a:xfrm>
            <a:off x="7288292" y="2139696"/>
            <a:ext cx="4065508" cy="3441954"/>
          </a:xfrm>
          <a:prstGeom prst="roundRect">
            <a:avLst>
              <a:gd name="adj" fmla="val 8956"/>
            </a:avLst>
          </a:prstGeom>
          <a:solidFill>
            <a:schemeClr val="bg1"/>
          </a:solidFill>
          <a:ln>
            <a:noFill/>
          </a:ln>
          <a:effectLst>
            <a:outerShdw blurRad="342900" dist="50800" dir="5400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>
              <a:solidFill>
                <a:schemeClr val="tx1"/>
              </a:solidFill>
              <a:latin typeface="Bahnschrift SemiLight" panose="020B0502040204020203" pitchFamily="34" charset="0"/>
            </a:endParaRPr>
          </a:p>
        </p:txBody>
      </p:sp>
      <p:pic>
        <p:nvPicPr>
          <p:cNvPr id="9" name="Рисунок 8" descr="Изображение выглядит как медведь, текст, снимок экрана, мультфильм">
            <a:extLst>
              <a:ext uri="{FF2B5EF4-FFF2-40B4-BE49-F238E27FC236}">
                <a16:creationId xmlns:a16="http://schemas.microsoft.com/office/drawing/2014/main" id="{85217399-29B5-1D6E-81F5-86B2E35689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8675" y="2326739"/>
            <a:ext cx="3644741" cy="2309813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9F629BD6-30E3-3015-4E27-D454F8F68494}"/>
              </a:ext>
            </a:extLst>
          </p:cNvPr>
          <p:cNvSpPr/>
          <p:nvPr/>
        </p:nvSpPr>
        <p:spPr>
          <a:xfrm>
            <a:off x="7288292" y="4757996"/>
            <a:ext cx="4065508" cy="823654"/>
          </a:xfrm>
          <a:prstGeom prst="roundRect">
            <a:avLst>
              <a:gd name="adj" fmla="val 37867"/>
            </a:avLst>
          </a:prstGeom>
          <a:solidFill>
            <a:schemeClr val="bg1"/>
          </a:solidFill>
          <a:ln>
            <a:noFill/>
          </a:ln>
          <a:effectLst>
            <a:outerShdw blurRad="342900" dist="50800" dir="5400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Bahnschrift SemiBold" panose="020B0502040204020203" pitchFamily="34" charset="0"/>
              </a:rPr>
              <a:t>Проект делался на </a:t>
            </a:r>
            <a:r>
              <a:rPr lang="en-US" dirty="0">
                <a:solidFill>
                  <a:schemeClr val="tx1"/>
                </a:solidFill>
                <a:latin typeface="Bahnschrift SemiBold" panose="020B0502040204020203" pitchFamily="34" charset="0"/>
              </a:rPr>
              <a:t>Android Studio Otter</a:t>
            </a:r>
            <a:endParaRPr lang="ru-RU" dirty="0">
              <a:solidFill>
                <a:schemeClr val="tx1"/>
              </a:solidFill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4838579"/>
      </p:ext>
    </p:extLst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52ACE-70CA-619D-0702-B605D5CB6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67440B4-A06E-9AB0-4CA9-C30959650E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8703E16B-9A24-D599-8748-81828ED5D786}"/>
              </a:ext>
            </a:extLst>
          </p:cNvPr>
          <p:cNvSpPr/>
          <p:nvPr/>
        </p:nvSpPr>
        <p:spPr>
          <a:xfrm>
            <a:off x="485775" y="478528"/>
            <a:ext cx="11220447" cy="5900941"/>
          </a:xfrm>
          <a:prstGeom prst="roundRect">
            <a:avLst>
              <a:gd name="adj" fmla="val 8956"/>
            </a:avLst>
          </a:prstGeom>
          <a:solidFill>
            <a:schemeClr val="bg1"/>
          </a:solidFill>
          <a:ln>
            <a:noFill/>
          </a:ln>
          <a:effectLst>
            <a:outerShdw blurRad="342900" dist="50800" dir="5400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>
              <a:solidFill>
                <a:schemeClr val="tx1"/>
              </a:solidFill>
              <a:latin typeface="Bahnschrift SemiLight" panose="020B0502040204020203" pitchFamily="34" charset="0"/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4D3D089-A64D-7A40-EA64-673674358086}"/>
              </a:ext>
            </a:extLst>
          </p:cNvPr>
          <p:cNvSpPr/>
          <p:nvPr/>
        </p:nvSpPr>
        <p:spPr>
          <a:xfrm>
            <a:off x="485777" y="478528"/>
            <a:ext cx="2219324" cy="5884919"/>
          </a:xfrm>
          <a:prstGeom prst="roundRect">
            <a:avLst>
              <a:gd name="adj" fmla="val 15946"/>
            </a:avLst>
          </a:prstGeom>
          <a:solidFill>
            <a:schemeClr val="bg1"/>
          </a:solidFill>
          <a:ln>
            <a:noFill/>
          </a:ln>
          <a:effectLst>
            <a:outerShdw blurRad="342900" dist="50800" dir="5400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  <a:latin typeface="Bahnschrift SemiBold" panose="020B0502040204020203" pitchFamily="34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C47F2C4-EC76-1860-5AD4-8A5DE3565D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6031" y="462502"/>
            <a:ext cx="2218814" cy="5422417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6A4F831B-5399-F780-7546-D67954F04EC0}"/>
              </a:ext>
            </a:extLst>
          </p:cNvPr>
          <p:cNvSpPr/>
          <p:nvPr/>
        </p:nvSpPr>
        <p:spPr>
          <a:xfrm>
            <a:off x="485775" y="5524500"/>
            <a:ext cx="2219325" cy="838947"/>
          </a:xfrm>
          <a:prstGeom prst="roundRect">
            <a:avLst>
              <a:gd name="adj" fmla="val 43188"/>
            </a:avLst>
          </a:prstGeom>
          <a:solidFill>
            <a:schemeClr val="bg1"/>
          </a:solidFill>
          <a:ln>
            <a:noFill/>
          </a:ln>
          <a:effectLst>
            <a:outerShdw blurRad="342900" dist="50800" dir="5400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Bahnschrift SemiBold" panose="020B0502040204020203" pitchFamily="34" charset="0"/>
              </a:rPr>
              <a:t>Экран авторизации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86F43047-E077-1DB7-7981-E027158F832D}"/>
              </a:ext>
            </a:extLst>
          </p:cNvPr>
          <p:cNvSpPr/>
          <p:nvPr/>
        </p:nvSpPr>
        <p:spPr>
          <a:xfrm>
            <a:off x="3501628" y="462507"/>
            <a:ext cx="2219324" cy="5932988"/>
          </a:xfrm>
          <a:prstGeom prst="roundRect">
            <a:avLst>
              <a:gd name="adj" fmla="val 15946"/>
            </a:avLst>
          </a:prstGeom>
          <a:solidFill>
            <a:schemeClr val="bg1"/>
          </a:solidFill>
          <a:ln>
            <a:noFill/>
          </a:ln>
          <a:effectLst>
            <a:outerShdw blurRad="342900" dist="50800" dir="5400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509E88D8-1D9B-9115-671E-A07D5C988A2E}"/>
              </a:ext>
            </a:extLst>
          </p:cNvPr>
          <p:cNvSpPr/>
          <p:nvPr/>
        </p:nvSpPr>
        <p:spPr>
          <a:xfrm>
            <a:off x="6471045" y="462507"/>
            <a:ext cx="2219324" cy="5916966"/>
          </a:xfrm>
          <a:prstGeom prst="roundRect">
            <a:avLst>
              <a:gd name="adj" fmla="val 15946"/>
            </a:avLst>
          </a:prstGeom>
          <a:solidFill>
            <a:schemeClr val="bg1"/>
          </a:solidFill>
          <a:ln>
            <a:noFill/>
          </a:ln>
          <a:effectLst>
            <a:outerShdw blurRad="342900" dist="50800" dir="5400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71E73DE8-BDE2-CF57-7474-BBFE7D3C8457}"/>
              </a:ext>
            </a:extLst>
          </p:cNvPr>
          <p:cNvSpPr/>
          <p:nvPr/>
        </p:nvSpPr>
        <p:spPr>
          <a:xfrm>
            <a:off x="9486898" y="462506"/>
            <a:ext cx="2219324" cy="5916966"/>
          </a:xfrm>
          <a:prstGeom prst="roundRect">
            <a:avLst>
              <a:gd name="adj" fmla="val 15946"/>
            </a:avLst>
          </a:prstGeom>
          <a:solidFill>
            <a:schemeClr val="bg1"/>
          </a:solidFill>
          <a:ln>
            <a:noFill/>
          </a:ln>
          <a:effectLst>
            <a:outerShdw blurRad="342900" dist="50800" dir="5400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  <a:latin typeface="Bahnschrift SemiBold" panose="020B0502040204020203" pitchFamily="34" charset="0"/>
            </a:endParaRPr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43B57E88-CDF7-12D6-58EA-F671950351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02138" y="462501"/>
            <a:ext cx="2218814" cy="5422417"/>
          </a:xfrm>
          <a:prstGeom prst="rect">
            <a:avLst/>
          </a:prstGeom>
        </p:spPr>
      </p:pic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4E3602BF-1317-A0F1-85CB-99FBFB455D27}"/>
              </a:ext>
            </a:extLst>
          </p:cNvPr>
          <p:cNvSpPr/>
          <p:nvPr/>
        </p:nvSpPr>
        <p:spPr>
          <a:xfrm>
            <a:off x="3501627" y="5556547"/>
            <a:ext cx="2219325" cy="838947"/>
          </a:xfrm>
          <a:prstGeom prst="roundRect">
            <a:avLst>
              <a:gd name="adj" fmla="val 44323"/>
            </a:avLst>
          </a:prstGeom>
          <a:solidFill>
            <a:schemeClr val="bg1"/>
          </a:solidFill>
          <a:ln>
            <a:noFill/>
          </a:ln>
          <a:effectLst>
            <a:outerShdw blurRad="342900" dist="50800" dir="5400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Bahnschrift SemiBold" panose="020B0502040204020203" pitchFamily="34" charset="0"/>
              </a:rPr>
              <a:t>Главный экран</a:t>
            </a:r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D90273D8-5F2D-458F-6488-38D228F4A3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70791" y="478524"/>
            <a:ext cx="2218814" cy="5422416"/>
          </a:xfrm>
          <a:prstGeom prst="rect">
            <a:avLst/>
          </a:prstGeom>
        </p:spPr>
      </p:pic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7F43041A-14A9-8492-EFA0-96A0A1C31AEE}"/>
              </a:ext>
            </a:extLst>
          </p:cNvPr>
          <p:cNvSpPr/>
          <p:nvPr/>
        </p:nvSpPr>
        <p:spPr>
          <a:xfrm>
            <a:off x="6471044" y="5556547"/>
            <a:ext cx="2219325" cy="838947"/>
          </a:xfrm>
          <a:prstGeom prst="roundRect">
            <a:avLst>
              <a:gd name="adj" fmla="val 43188"/>
            </a:avLst>
          </a:prstGeom>
          <a:solidFill>
            <a:schemeClr val="bg1"/>
          </a:solidFill>
          <a:ln>
            <a:noFill/>
          </a:ln>
          <a:effectLst>
            <a:outerShdw blurRad="342900" dist="50800" dir="5400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Bahnschrift SemiBold" panose="020B0502040204020203" pitchFamily="34" charset="0"/>
              </a:rPr>
              <a:t>Функция: «Тренировка»</a:t>
            </a:r>
          </a:p>
        </p:txBody>
      </p:sp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EA195CC1-664D-81B2-7D4C-5356CF552A0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87155" y="478524"/>
            <a:ext cx="2218814" cy="5422416"/>
          </a:xfrm>
          <a:prstGeom prst="rect">
            <a:avLst/>
          </a:prstGeom>
        </p:spPr>
      </p:pic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C09866CA-0EB1-376F-91E7-204C5E0ED0BB}"/>
              </a:ext>
            </a:extLst>
          </p:cNvPr>
          <p:cNvSpPr/>
          <p:nvPr/>
        </p:nvSpPr>
        <p:spPr>
          <a:xfrm>
            <a:off x="9486897" y="5556547"/>
            <a:ext cx="2219325" cy="838947"/>
          </a:xfrm>
          <a:prstGeom prst="roundRect">
            <a:avLst>
              <a:gd name="adj" fmla="val 44323"/>
            </a:avLst>
          </a:prstGeom>
          <a:solidFill>
            <a:schemeClr val="bg1"/>
          </a:solidFill>
          <a:ln>
            <a:noFill/>
          </a:ln>
          <a:effectLst>
            <a:outerShdw blurRad="342900" dist="50800" dir="5400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Bahnschrift SemiBold" panose="020B0502040204020203" pitchFamily="34" charset="0"/>
              </a:rPr>
              <a:t>Функция: «Вода»</a:t>
            </a:r>
          </a:p>
        </p:txBody>
      </p:sp>
    </p:spTree>
    <p:extLst>
      <p:ext uri="{BB962C8B-B14F-4D97-AF65-F5344CB8AC3E}">
        <p14:creationId xmlns:p14="http://schemas.microsoft.com/office/powerpoint/2010/main" val="4166224340"/>
      </p:ext>
    </p:extLst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3F012-F13E-7DFA-37C2-84C6F4D13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EA909D3-43B1-B801-B6A8-CD66862A8A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FD14D9B3-DDFB-EB2C-1561-6A1283635A4B}"/>
              </a:ext>
            </a:extLst>
          </p:cNvPr>
          <p:cNvSpPr/>
          <p:nvPr/>
        </p:nvSpPr>
        <p:spPr>
          <a:xfrm>
            <a:off x="3501627" y="478528"/>
            <a:ext cx="5187978" cy="5900941"/>
          </a:xfrm>
          <a:prstGeom prst="roundRect">
            <a:avLst>
              <a:gd name="adj" fmla="val 8956"/>
            </a:avLst>
          </a:prstGeom>
          <a:solidFill>
            <a:schemeClr val="bg1"/>
          </a:solidFill>
          <a:ln>
            <a:noFill/>
          </a:ln>
          <a:effectLst>
            <a:outerShdw blurRad="342900" dist="50800" dir="5400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>
              <a:solidFill>
                <a:schemeClr val="tx1"/>
              </a:solidFill>
              <a:latin typeface="Bahnschrift SemiLight" panose="020B0502040204020203" pitchFamily="34" charset="0"/>
            </a:endParaRP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B8122B90-141B-83CA-DF3D-FEFDDE59D974}"/>
              </a:ext>
            </a:extLst>
          </p:cNvPr>
          <p:cNvSpPr/>
          <p:nvPr/>
        </p:nvSpPr>
        <p:spPr>
          <a:xfrm>
            <a:off x="3501628" y="462507"/>
            <a:ext cx="2219324" cy="5932988"/>
          </a:xfrm>
          <a:prstGeom prst="roundRect">
            <a:avLst>
              <a:gd name="adj" fmla="val 15946"/>
            </a:avLst>
          </a:prstGeom>
          <a:solidFill>
            <a:schemeClr val="bg1"/>
          </a:solidFill>
          <a:ln>
            <a:noFill/>
          </a:ln>
          <a:effectLst>
            <a:outerShdw blurRad="342900" dist="50800" dir="5400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A82ABCB1-6264-74DD-4B6B-51DB35029E98}"/>
              </a:ext>
            </a:extLst>
          </p:cNvPr>
          <p:cNvSpPr/>
          <p:nvPr/>
        </p:nvSpPr>
        <p:spPr>
          <a:xfrm>
            <a:off x="6471045" y="462507"/>
            <a:ext cx="2219324" cy="5916966"/>
          </a:xfrm>
          <a:prstGeom prst="roundRect">
            <a:avLst>
              <a:gd name="adj" fmla="val 15946"/>
            </a:avLst>
          </a:prstGeom>
          <a:solidFill>
            <a:schemeClr val="bg1"/>
          </a:solidFill>
          <a:ln>
            <a:noFill/>
          </a:ln>
          <a:effectLst>
            <a:outerShdw blurRad="342900" dist="50800" dir="5400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  <a:latin typeface="Bahnschrift SemiBold" panose="020B0502040204020203" pitchFamily="34" charset="0"/>
            </a:endParaRPr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D7410F1B-48A4-FD02-DFCF-491A4BBB8D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02138" y="462501"/>
            <a:ext cx="2218814" cy="5422416"/>
          </a:xfrm>
          <a:prstGeom prst="rect">
            <a:avLst/>
          </a:prstGeom>
        </p:spPr>
      </p:pic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4965AE25-9098-6FAF-3AED-A636D1674FE5}"/>
              </a:ext>
            </a:extLst>
          </p:cNvPr>
          <p:cNvSpPr/>
          <p:nvPr/>
        </p:nvSpPr>
        <p:spPr>
          <a:xfrm>
            <a:off x="3501627" y="5556547"/>
            <a:ext cx="2219325" cy="838947"/>
          </a:xfrm>
          <a:prstGeom prst="roundRect">
            <a:avLst>
              <a:gd name="adj" fmla="val 44323"/>
            </a:avLst>
          </a:prstGeom>
          <a:solidFill>
            <a:schemeClr val="bg1"/>
          </a:solidFill>
          <a:ln>
            <a:noFill/>
          </a:ln>
          <a:effectLst>
            <a:outerShdw blurRad="342900" dist="50800" dir="5400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Bahnschrift SemiBold" panose="020B0502040204020203" pitchFamily="34" charset="0"/>
              </a:rPr>
              <a:t>Функция: «Питание»</a:t>
            </a:r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B804ECB1-9D92-E4E4-D703-4DD5E2ACC9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70791" y="478524"/>
            <a:ext cx="2218813" cy="5422416"/>
          </a:xfrm>
          <a:prstGeom prst="rect">
            <a:avLst/>
          </a:prstGeom>
        </p:spPr>
      </p:pic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F355DA1B-EB4B-95E6-B3A6-028F316D4280}"/>
              </a:ext>
            </a:extLst>
          </p:cNvPr>
          <p:cNvSpPr/>
          <p:nvPr/>
        </p:nvSpPr>
        <p:spPr>
          <a:xfrm>
            <a:off x="6471044" y="5556547"/>
            <a:ext cx="2219325" cy="838947"/>
          </a:xfrm>
          <a:prstGeom prst="roundRect">
            <a:avLst>
              <a:gd name="adj" fmla="val 43188"/>
            </a:avLst>
          </a:prstGeom>
          <a:solidFill>
            <a:schemeClr val="bg1"/>
          </a:solidFill>
          <a:ln>
            <a:noFill/>
          </a:ln>
          <a:effectLst>
            <a:outerShdw blurRad="342900" dist="50800" dir="5400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  <a:latin typeface="Bahnschrift SemiBold" panose="020B0502040204020203" pitchFamily="34" charset="0"/>
              </a:rPr>
              <a:t>Настройки</a:t>
            </a:r>
          </a:p>
        </p:txBody>
      </p:sp>
    </p:spTree>
    <p:extLst>
      <p:ext uri="{BB962C8B-B14F-4D97-AF65-F5344CB8AC3E}">
        <p14:creationId xmlns:p14="http://schemas.microsoft.com/office/powerpoint/2010/main" val="2851621704"/>
      </p:ext>
    </p:extLst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72709-6799-9C9A-9CC1-E50804C46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E92B0B2-09E4-EB34-F0F7-AF3BEB481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5EE2864E-7128-DB6B-4B45-DC64CCCEEB2C}"/>
              </a:ext>
            </a:extLst>
          </p:cNvPr>
          <p:cNvSpPr/>
          <p:nvPr/>
        </p:nvSpPr>
        <p:spPr>
          <a:xfrm>
            <a:off x="838200" y="2139696"/>
            <a:ext cx="10363200" cy="2070354"/>
          </a:xfrm>
          <a:prstGeom prst="roundRect">
            <a:avLst>
              <a:gd name="adj" fmla="val 8956"/>
            </a:avLst>
          </a:prstGeom>
          <a:solidFill>
            <a:schemeClr val="bg1"/>
          </a:solidFill>
          <a:ln>
            <a:noFill/>
          </a:ln>
          <a:effectLst>
            <a:outerShdw blurRad="342900" dist="50800" dir="5400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447675"/>
            <a:r>
              <a:rPr lang="ru-RU" dirty="0">
                <a:solidFill>
                  <a:schemeClr val="tx1"/>
                </a:solidFill>
                <a:latin typeface="Bahnschrift" panose="020B0502040204020203" pitchFamily="34" charset="0"/>
              </a:rPr>
              <a:t>Приложение "Fitness Assist" представляет собой полноценное минималистичное решение для контроля основных аспектов здоровья. Оно успешно:</a:t>
            </a:r>
          </a:p>
          <a:p>
            <a:pPr indent="447675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Bahnschrift" panose="020B0502040204020203" pitchFamily="34" charset="0"/>
              </a:rPr>
              <a:t>Решает реальные проблемы пользователей</a:t>
            </a:r>
          </a:p>
          <a:p>
            <a:pPr indent="447675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Bahnschrift" panose="020B0502040204020203" pitchFamily="34" charset="0"/>
              </a:rPr>
              <a:t>Демонстрирует профессиональные навыки разработки</a:t>
            </a:r>
          </a:p>
          <a:p>
            <a:pPr indent="447675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Bahnschrift" panose="020B0502040204020203" pitchFamily="34" charset="0"/>
              </a:rPr>
              <a:t>Имеет четкие перспективы развития</a:t>
            </a:r>
          </a:p>
          <a:p>
            <a:pPr indent="447675"/>
            <a:r>
              <a:rPr lang="ru-RU" dirty="0">
                <a:solidFill>
                  <a:schemeClr val="tx1"/>
                </a:solidFill>
                <a:latin typeface="Bahnschrift" panose="020B0502040204020203" pitchFamily="34" charset="0"/>
              </a:rPr>
              <a:t>Ключевое преимущество: баланс между функциональностью и простотой, что делает его доступным для широкой аудитории без технических навыков.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1C5F4A24-C7C9-8A46-F4B7-E14498D10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>
              <a:lnSpc>
                <a:spcPts val="5550"/>
              </a:lnSpc>
            </a:pPr>
            <a:r>
              <a:rPr lang="ru-RU" dirty="0">
                <a:solidFill>
                  <a:srgbClr val="030303"/>
                </a:solidFill>
                <a:latin typeface="Bahnschrift SemiBold" panose="020B0502040204020203" pitchFamily="34" charset="0"/>
                <a:ea typeface="DM Sans Semi Bold" pitchFamily="34" charset="-122"/>
                <a:cs typeface="DM Sans Semi Bold" pitchFamily="34" charset="-120"/>
              </a:rPr>
              <a:t>Заключение</a:t>
            </a:r>
            <a:endParaRPr lang="en-US" dirty="0"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9214444"/>
      </p:ext>
    </p:extLst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6CA3DD7-8569-1AEF-D9EA-89A2A00C8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FD197E25-D470-1976-6076-1B5356342DA2}"/>
              </a:ext>
            </a:extLst>
          </p:cNvPr>
          <p:cNvSpPr/>
          <p:nvPr/>
        </p:nvSpPr>
        <p:spPr>
          <a:xfrm>
            <a:off x="3048762" y="2926080"/>
            <a:ext cx="6094476" cy="100584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342900" dist="50800" dir="5400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kumimoji="0" lang="ru-RU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SemiBold" panose="020B0502040204020203" pitchFamily="34" charset="0"/>
                <a:ea typeface="+mj-ea"/>
                <a:cs typeface="+mj-cs"/>
              </a:rPr>
              <a:t>Спасибо за внимание!</a:t>
            </a:r>
            <a:endParaRPr lang="ru-RU" dirty="0">
              <a:solidFill>
                <a:schemeClr val="tx1"/>
              </a:solidFill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088792"/>
      </p:ext>
    </p:extLst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363</Words>
  <Application>Microsoft Office PowerPoint</Application>
  <PresentationFormat>Широкоэкранный</PresentationFormat>
  <Paragraphs>75</Paragraphs>
  <Slides>10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8" baseType="lpstr">
      <vt:lpstr>Aptos</vt:lpstr>
      <vt:lpstr>Aptos Display</vt:lpstr>
      <vt:lpstr>Arial</vt:lpstr>
      <vt:lpstr>Bahnschrift</vt:lpstr>
      <vt:lpstr>Bahnschrift SemiBold</vt:lpstr>
      <vt:lpstr>Bahnschrift SemiLight</vt:lpstr>
      <vt:lpstr>Courier New</vt:lpstr>
      <vt:lpstr>Тема Office</vt:lpstr>
      <vt:lpstr>Презентация PowerPoint</vt:lpstr>
      <vt:lpstr>Актуальность</vt:lpstr>
      <vt:lpstr>Анализ существующих аналогов</vt:lpstr>
      <vt:lpstr>Анализ существующих аналогов</vt:lpstr>
      <vt:lpstr>Цели и задачи проекта</vt:lpstr>
      <vt:lpstr>Принцип работы приложения </vt:lpstr>
      <vt:lpstr>Презентация PowerPoint</vt:lpstr>
      <vt:lpstr>Презентация PowerPoint</vt:lpstr>
      <vt:lpstr>Заключение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Станислав Мухараев</dc:creator>
  <cp:lastModifiedBy>Queen Serenity</cp:lastModifiedBy>
  <cp:revision>5</cp:revision>
  <dcterms:created xsi:type="dcterms:W3CDTF">2025-11-12T12:17:21Z</dcterms:created>
  <dcterms:modified xsi:type="dcterms:W3CDTF">2025-12-18T14:45:43Z</dcterms:modified>
</cp:coreProperties>
</file>